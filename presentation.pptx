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03601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563EB"/>
                </a:solidFill>
                <a:latin typeface="Segoe UI"/>
              </a:defRPr>
            </a:pPr>
            <a:r>
              <a:t>INTERVIEW IQ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015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6400" b="1">
                <a:solidFill>
                  <a:srgbClr val="0F172A"/>
                </a:solidFill>
                <a:latin typeface="Segoe UI"/>
              </a:defRPr>
            </a:pPr>
            <a:r>
              <a:t>InterviewIQ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3601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334155"/>
                </a:solidFill>
                <a:latin typeface="Segoe UI"/>
              </a:defRPr>
            </a:pPr>
            <a:r>
              <a:t>Enterprise-Grade AI Mock Interview &amp; Resume Analyzer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3601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64748B"/>
                </a:solidFill>
                <a:latin typeface="Segoe UI"/>
              </a:defRPr>
            </a:pPr>
            <a:r>
              <a:t>Platform Features, Architecture, Security Framework, and Core Capabilities</a:t>
            </a:r>
            <a:br/>
            <a:r>
              <a:t>Created by: Google DeepMind team pair programming with USER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60152" cy="137160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2563EB"/>
                </a:solidFill>
                <a:latin typeface="Segoe UI"/>
              </a:defRPr>
            </a:pPr>
            <a:r>
              <a:t>INTERVIEW IQ  |  EXECUTIVE SUMMARY</a:t>
            </a:r>
          </a:p>
          <a:p>
            <a:pPr>
              <a:defRPr sz="3600" b="1">
                <a:solidFill>
                  <a:srgbClr val="0F172A"/>
                </a:solidFill>
                <a:latin typeface="Segoe UI"/>
              </a:defRPr>
            </a:pPr>
            <a:r>
              <a:t>Executive Summary</a:t>
            </a:r>
          </a:p>
          <a:p>
            <a:pPr>
              <a:defRPr sz="1600">
                <a:solidFill>
                  <a:srgbClr val="64748B"/>
                </a:solidFill>
                <a:latin typeface="Segoe UI"/>
              </a:defRPr>
            </a:pPr>
            <a:r>
              <a:t>Closing the Tech Skill-Gap with Intelligent Automation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60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  <a:defRPr sz="1600">
                <a:solidFill>
                  <a:srgbClr val="334155"/>
                </a:solidFill>
                <a:latin typeface="Segoe UI"/>
              </a:defRPr>
            </a:pPr>
            <a:r>
              <a:t>•  Advanced AI-driven mock interview environment offering realistic, domain-specific scenarios.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600">
                <a:solidFill>
                  <a:srgbClr val="334155"/>
                </a:solidFill>
                <a:latin typeface="Segoe UI"/>
              </a:defRPr>
            </a:pPr>
            <a:r>
              <a:t>•  Automated resume parsing and ATS matching rule-engine validation for target job roles.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600">
                <a:solidFill>
                  <a:srgbClr val="334155"/>
                </a:solidFill>
                <a:latin typeface="Segoe UI"/>
              </a:defRPr>
            </a:pPr>
            <a:r>
              <a:t>•  Detailed, structured evaluation rubrics (technical, communication, problem-solving, behavioral).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600">
                <a:solidFill>
                  <a:srgbClr val="334155"/>
                </a:solidFill>
                <a:latin typeface="Segoe UI"/>
              </a:defRPr>
            </a:pPr>
            <a:r>
              <a:t>•  Full-featured platform dashboard, student activity tracking, and comprehensive administrator configuration hub.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600">
                <a:solidFill>
                  <a:srgbClr val="334155"/>
                </a:solidFill>
                <a:latin typeface="Segoe UI"/>
              </a:defRPr>
            </a:pPr>
            <a:r>
              <a:t>•  Designed with strict security monitoring, fraud logs compliance, and secure Role-Based Access Control (RBAC).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60152" cy="137160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2563EB"/>
                </a:solidFill>
                <a:latin typeface="Segoe UI"/>
              </a:defRPr>
            </a:pPr>
            <a:r>
              <a:t>INTERVIEW IQ  |  ENTERPRISE SYSTEM ARCHITECTURE</a:t>
            </a:r>
          </a:p>
          <a:p>
            <a:pPr>
              <a:defRPr sz="3600" b="1">
                <a:solidFill>
                  <a:srgbClr val="0F172A"/>
                </a:solidFill>
                <a:latin typeface="Segoe UI"/>
              </a:defRPr>
            </a:pPr>
            <a:r>
              <a:t>Enterprise System Architecture</a:t>
            </a:r>
          </a:p>
          <a:p>
            <a:pPr>
              <a:defRPr sz="1600">
                <a:solidFill>
                  <a:srgbClr val="64748B"/>
                </a:solidFill>
                <a:latin typeface="Segoe UI"/>
              </a:defRPr>
            </a:pPr>
            <a:r>
              <a:t>Scalable Frameworks and Real-Time Service Topologies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60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  <a:defRPr sz="1600">
                <a:solidFill>
                  <a:srgbClr val="334155"/>
                </a:solidFill>
                <a:latin typeface="Segoe UI"/>
              </a:defRPr>
            </a:pPr>
            <a:r>
              <a:t>•  Frontend: Responsive React SPA, styled using custom modern dark-theme CSS variables, leveraging Chart.js/react-chartjs-2 for metrics and stats visualization.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600">
                <a:solidFill>
                  <a:srgbClr val="334155"/>
                </a:solidFill>
                <a:latin typeface="Segoe UI"/>
              </a:defRPr>
            </a:pPr>
            <a:r>
              <a:t>•  Backend: Enterprise-grade Spring Boot 3 web services. Manages auth (JWT), database operations (JPA + Hibernate), and business logic.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600">
                <a:solidFill>
                  <a:srgbClr val="334155"/>
                </a:solidFill>
                <a:latin typeface="Segoe UI"/>
              </a:defRPr>
            </a:pPr>
            <a:r>
              <a:t>•  Database Layer: MySQL Server storing persistent data (Users, Roles, Questions, SystemConfig, Audit Logs, Violations, Feedback).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600">
                <a:solidFill>
                  <a:srgbClr val="334155"/>
                </a:solidFill>
                <a:latin typeface="Segoe UI"/>
              </a:defRPr>
            </a:pPr>
            <a:r>
              <a:t>•  AI Service Layer: Python FastAPI serving as client bridge to Google Gemini Pro API for prompt engineering and evaluation models.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600">
                <a:solidFill>
                  <a:srgbClr val="334155"/>
                </a:solidFill>
                <a:latin typeface="Segoe UI"/>
              </a:defRPr>
            </a:pPr>
            <a:r>
              <a:t>•  Integration: Asynchronous REST communications between subsystems with robust fallback heuristics.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60152" cy="137160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2563EB"/>
                </a:solidFill>
                <a:latin typeface="Segoe UI"/>
              </a:defRPr>
            </a:pPr>
            <a:r>
              <a:t>INTERVIEW IQ  |  AI MOCK INTERVIEW ENGINE</a:t>
            </a:r>
          </a:p>
          <a:p>
            <a:pPr>
              <a:defRPr sz="3600" b="1">
                <a:solidFill>
                  <a:srgbClr val="0F172A"/>
                </a:solidFill>
                <a:latin typeface="Segoe UI"/>
              </a:defRPr>
            </a:pPr>
            <a:r>
              <a:t>AI Mock Interview Engine</a:t>
            </a:r>
          </a:p>
          <a:p>
            <a:pPr>
              <a:defRPr sz="1600">
                <a:solidFill>
                  <a:srgbClr val="64748B"/>
                </a:solidFill>
                <a:latin typeface="Segoe UI"/>
              </a:defRPr>
            </a:pPr>
            <a:r>
              <a:t>Interactive, Dynamic Session Generation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60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  <a:defRPr sz="1600">
                <a:solidFill>
                  <a:srgbClr val="334155"/>
                </a:solidFill>
                <a:latin typeface="Segoe UI"/>
              </a:defRPr>
            </a:pPr>
            <a:r>
              <a:t>•  Adaptive Difficulty: Shifts questions from Easy to Hard dynamically based on answer scores of preceding rounds.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600">
                <a:solidFill>
                  <a:srgbClr val="334155"/>
                </a:solidFill>
                <a:latin typeface="Segoe UI"/>
              </a:defRPr>
            </a:pPr>
            <a:r>
              <a:t>•  Multiple Assessment Modes: Supports text-input answering with upcoming expansion for voice-to-text response synthesis.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600">
                <a:solidFill>
                  <a:srgbClr val="334155"/>
                </a:solidFill>
                <a:latin typeface="Segoe UI"/>
              </a:defRPr>
            </a:pPr>
            <a:r>
              <a:t>•  Role-Based Generation: Predefined system templates for Backend Developer, Full Stack, Software Engineer, DevOps, and Data Analyst.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600">
                <a:solidFill>
                  <a:srgbClr val="334155"/>
                </a:solidFill>
                <a:latin typeface="Segoe UI"/>
              </a:defRPr>
            </a:pPr>
            <a:r>
              <a:t>•  Question Bank: Comprehensive domain bank including Java, Python, DSA, DBMS, System Design, React, and behavioral categories.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600">
                <a:solidFill>
                  <a:srgbClr val="334155"/>
                </a:solidFill>
                <a:latin typeface="Segoe UI"/>
              </a:defRPr>
            </a:pPr>
            <a:r>
              <a:t>•  Dual Personality AI: Configurable examiner personalities (Professional, Strict, Friendly, Challenging) to test pressure composure.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60152" cy="137160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2563EB"/>
                </a:solidFill>
                <a:latin typeface="Segoe UI"/>
              </a:defRPr>
            </a:pPr>
            <a:r>
              <a:t>INTERVIEW IQ  |  MULTI-DIMENSIONAL AI EVALUATION</a:t>
            </a:r>
          </a:p>
          <a:p>
            <a:pPr>
              <a:defRPr sz="3600" b="1">
                <a:solidFill>
                  <a:srgbClr val="0F172A"/>
                </a:solidFill>
                <a:latin typeface="Segoe UI"/>
              </a:defRPr>
            </a:pPr>
            <a:r>
              <a:t>Multi-Dimensional AI Evaluation</a:t>
            </a:r>
          </a:p>
          <a:p>
            <a:pPr>
              <a:defRPr sz="1600">
                <a:solidFill>
                  <a:srgbClr val="64748B"/>
                </a:solidFill>
                <a:latin typeface="Segoe UI"/>
              </a:defRPr>
            </a:pPr>
            <a:r>
              <a:t>Comprehensive Feedback &amp; Score Remarks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60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  <a:defRPr sz="1600">
                <a:solidFill>
                  <a:srgbClr val="334155"/>
                </a:solidFill>
                <a:latin typeface="Segoe UI"/>
              </a:defRPr>
            </a:pPr>
            <a:r>
              <a:t>•  Technical Accuracy: Checks correctness of technical facts, syntax, and conceptual foundations.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600">
                <a:solidFill>
                  <a:srgbClr val="334155"/>
                </a:solidFill>
                <a:latin typeface="Segoe UI"/>
              </a:defRPr>
            </a:pPr>
            <a:r>
              <a:t>•  Completeness &amp; Detail: Audits depth of explanations, missing edge-cases, and structural completeness.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600">
                <a:solidFill>
                  <a:srgbClr val="334155"/>
                </a:solidFill>
                <a:latin typeface="Segoe UI"/>
              </a:defRPr>
            </a:pPr>
            <a:r>
              <a:t>•  Communication &amp; Vocabulary: Scans fluency, readability, filler word checks, and clarity of explanation.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600">
                <a:solidFill>
                  <a:srgbClr val="334155"/>
                </a:solidFill>
                <a:latin typeface="Segoe UI"/>
              </a:defRPr>
            </a:pPr>
            <a:r>
              <a:t>•  Problem Solving: Evaluates design choices, algorithmic complexity (Big O), and structural breakdown.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600">
                <a:solidFill>
                  <a:srgbClr val="334155"/>
                </a:solidFill>
                <a:latin typeface="Segoe UI"/>
              </a:defRPr>
            </a:pPr>
            <a:r>
              <a:t>•  Actionable Remarks: Returns precise highlighted mistakes, strengths, weaknesses, and concrete recommendations for improvement.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60152" cy="137160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2563EB"/>
                </a:solidFill>
                <a:latin typeface="Segoe UI"/>
              </a:defRPr>
            </a:pPr>
            <a:r>
              <a:t>INTERVIEW IQ  |  ATS RULE ENGINE &amp; RESUME ANALYZER</a:t>
            </a:r>
          </a:p>
          <a:p>
            <a:pPr>
              <a:defRPr sz="3600" b="1">
                <a:solidFill>
                  <a:srgbClr val="0F172A"/>
                </a:solidFill>
                <a:latin typeface="Segoe UI"/>
              </a:defRPr>
            </a:pPr>
            <a:r>
              <a:t>ATS Rule Engine &amp; Resume Analyzer</a:t>
            </a:r>
          </a:p>
          <a:p>
            <a:pPr>
              <a:defRPr sz="1600">
                <a:solidFill>
                  <a:srgbClr val="64748B"/>
                </a:solidFill>
                <a:latin typeface="Segoe UI"/>
              </a:defRPr>
            </a:pPr>
            <a:r>
              <a:t>Automating Match Verification against Target Job Profiles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60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  <a:defRPr sz="1600">
                <a:solidFill>
                  <a:srgbClr val="334155"/>
                </a:solidFill>
                <a:latin typeface="Segoe UI"/>
              </a:defRPr>
            </a:pPr>
            <a:r>
              <a:t>•  Multi-Format Parser: Uses Python library parsing engines (PyMuPDF, docx) to extract text content dynamically.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600">
                <a:solidFill>
                  <a:srgbClr val="334155"/>
                </a:solidFill>
                <a:latin typeface="Segoe UI"/>
              </a:defRPr>
            </a:pPr>
            <a:r>
              <a:t>•  Keyword Matching: Scores resume text keyword matching frequencies against role-specific requirements.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600">
                <a:solidFill>
                  <a:srgbClr val="334155"/>
                </a:solidFill>
                <a:latin typeface="Segoe UI"/>
              </a:defRPr>
            </a:pPr>
            <a:r>
              <a:t>•  Format &amp; Structure Audits: Scans for parsing-safe layout rules, contact information, education, and experience details.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600">
                <a:solidFill>
                  <a:srgbClr val="334155"/>
                </a:solidFill>
                <a:latin typeface="Segoe UI"/>
              </a:defRPr>
            </a:pPr>
            <a:r>
              <a:t>•  Dynamic Weighting: Configurable scoring weights (Keywords, Projects, Skill Validation, Experience, Education) adjusted in Admin panel.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600">
                <a:solidFill>
                  <a:srgbClr val="334155"/>
                </a:solidFill>
                <a:latin typeface="Segoe UI"/>
              </a:defRPr>
            </a:pPr>
            <a:r>
              <a:t>•  ATS passing threshold: Real-time validation scoring matching candidate resumes to target roles (e.g. Backend vs DevOps).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60152" cy="137160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2563EB"/>
                </a:solidFill>
                <a:latin typeface="Segoe UI"/>
              </a:defRPr>
            </a:pPr>
            <a:r>
              <a:t>INTERVIEW IQ  |  CENTRALIZED ADMINISTRATION &amp; CONFIGURATIONS</a:t>
            </a:r>
          </a:p>
          <a:p>
            <a:pPr>
              <a:defRPr sz="3600" b="1">
                <a:solidFill>
                  <a:srgbClr val="0F172A"/>
                </a:solidFill>
                <a:latin typeface="Segoe UI"/>
              </a:defRPr>
            </a:pPr>
            <a:r>
              <a:t>Centralized Administration &amp; Configurations</a:t>
            </a:r>
          </a:p>
          <a:p>
            <a:pPr>
              <a:defRPr sz="1600">
                <a:solidFill>
                  <a:srgbClr val="64748B"/>
                </a:solidFill>
                <a:latin typeface="Segoe UI"/>
              </a:defRPr>
            </a:pPr>
            <a:r>
              <a:t>Eliminating Hardcoded Defaults with Dynamic MySQL Schemas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60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  <a:defRPr sz="1600">
                <a:solidFill>
                  <a:srgbClr val="334155"/>
                </a:solidFill>
                <a:latin typeface="Segoe UI"/>
              </a:defRPr>
            </a:pPr>
            <a:r>
              <a:t>•  Dynamic Configuration: Admin settings read and write to key-value `system_config` table (platform name, logo, models, etc.).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600">
                <a:solidFill>
                  <a:srgbClr val="334155"/>
                </a:solidFill>
                <a:latin typeface="Segoe UI"/>
              </a:defRPr>
            </a:pPr>
            <a:r>
              <a:t>•  Prompt Manager: Admin controls and versions prompts for Interview Generation, Evaluations, ATS, and Recommendations with rollbacks.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600">
                <a:solidFill>
                  <a:srgbClr val="334155"/>
                </a:solidFill>
                <a:latin typeface="Segoe UI"/>
              </a:defRPr>
            </a:pPr>
            <a:r>
              <a:t>•  Interview Template Builder: Dynamically configure question counts, durations, and skills requirements for new roles.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600">
                <a:solidFill>
                  <a:srgbClr val="334155"/>
                </a:solidFill>
                <a:latin typeface="Segoe UI"/>
              </a:defRPr>
            </a:pPr>
            <a:r>
              <a:t>•  Audit Logging: Automatically tracks every administrative action, user modification, ban, and system update.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600">
                <a:solidFill>
                  <a:srgbClr val="334155"/>
                </a:solidFill>
                <a:latin typeface="Segoe UI"/>
              </a:defRPr>
            </a:pPr>
            <a:r>
              <a:t>•  Resource Management: Monitor token usage metrics, rate limits, daily quotas, and estimated API provider costs.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60152" cy="137160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2563EB"/>
                </a:solidFill>
                <a:latin typeface="Segoe UI"/>
              </a:defRPr>
            </a:pPr>
            <a:r>
              <a:t>INTERVIEW IQ  |  SECURITY, COMPLIANCE &amp; FRAUD MONITORING</a:t>
            </a:r>
          </a:p>
          <a:p>
            <a:pPr>
              <a:defRPr sz="3600" b="1">
                <a:solidFill>
                  <a:srgbClr val="0F172A"/>
                </a:solidFill>
                <a:latin typeface="Segoe UI"/>
              </a:defRPr>
            </a:pPr>
            <a:r>
              <a:t>Security, Compliance &amp; Fraud Monitoring</a:t>
            </a:r>
          </a:p>
          <a:p>
            <a:pPr>
              <a:defRPr sz="1600">
                <a:solidFill>
                  <a:srgbClr val="64748B"/>
                </a:solidFill>
                <a:latin typeface="Segoe UI"/>
              </a:defRPr>
            </a:pPr>
            <a:r>
              <a:t>Protecting Platform Integrity and Session Authenticity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60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  <a:defRPr sz="1600">
                <a:solidFill>
                  <a:srgbClr val="334155"/>
                </a:solidFill>
                <a:latin typeface="Segoe UI"/>
              </a:defRPr>
            </a:pPr>
            <a:r>
              <a:t>•  Access Control: Secure JWT token authentication. Granular roles: Student, Admin, Super Admin, Mentor, Analyst, Moderator.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600">
                <a:solidFill>
                  <a:srgbClr val="334155"/>
                </a:solidFill>
                <a:latin typeface="Segoe UI"/>
              </a:defRPr>
            </a:pPr>
            <a:r>
              <a:t>•  Two-Factor Authentication: Toggleable 2FA security enforcement for administrator accounts.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600">
                <a:solidFill>
                  <a:srgbClr val="334155"/>
                </a:solidFill>
                <a:latin typeface="Segoe UI"/>
              </a:defRPr>
            </a:pPr>
            <a:r>
              <a:t>•  Copy-Paste Prevention: Listeners detect copy-paste events during active interview sessions and log violations.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600">
                <a:solidFill>
                  <a:srgbClr val="334155"/>
                </a:solidFill>
                <a:latin typeface="Segoe UI"/>
              </a:defRPr>
            </a:pPr>
            <a:r>
              <a:t>•  Tab-Switch Monitoring: Tracking active window shifts during sessions, auto-flagging suspicious activities.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600">
                <a:solidFill>
                  <a:srgbClr val="334155"/>
                </a:solidFill>
                <a:latin typeface="Segoe UI"/>
              </a:defRPr>
            </a:pPr>
            <a:r>
              <a:t>•  Integrity Scores: Calculates system integrity metrics and logs violation reports to database audit tables.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60152" cy="137160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2563EB"/>
                </a:solidFill>
                <a:latin typeface="Segoe UI"/>
              </a:defRPr>
            </a:pPr>
            <a:r>
              <a:t>INTERVIEW IQ  |  COLLABORATIVE MENTOR HUB</a:t>
            </a:r>
          </a:p>
          <a:p>
            <a:pPr>
              <a:defRPr sz="3600" b="1">
                <a:solidFill>
                  <a:srgbClr val="0F172A"/>
                </a:solidFill>
                <a:latin typeface="Segoe UI"/>
              </a:defRPr>
            </a:pPr>
            <a:r>
              <a:t>Collaborative Mentor Hub</a:t>
            </a:r>
          </a:p>
          <a:p>
            <a:pPr>
              <a:defRPr sz="1600">
                <a:solidFill>
                  <a:srgbClr val="64748B"/>
                </a:solidFill>
                <a:latin typeface="Segoe UI"/>
              </a:defRPr>
            </a:pPr>
            <a:r>
              <a:t>Empowering Educators and Advisors to Track Student Success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60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  <a:defRPr sz="1600">
                <a:solidFill>
                  <a:srgbClr val="334155"/>
                </a:solidFill>
                <a:latin typeface="Segoe UI"/>
              </a:defRPr>
            </a:pPr>
            <a:r>
              <a:t>•  Student Directory: Comprehensive search/filter list of student accounts, education info, addresses, and resumes.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600">
                <a:solidFill>
                  <a:srgbClr val="334155"/>
                </a:solidFill>
                <a:latin typeface="Segoe UI"/>
              </a:defRPr>
            </a:pPr>
            <a:r>
              <a:t>•  Performance Tracking: Monitor student interview success rates, average scores, and weak preparation topics.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600">
                <a:solidFill>
                  <a:srgbClr val="334155"/>
                </a:solidFill>
                <a:latin typeface="Segoe UI"/>
              </a:defRPr>
            </a:pPr>
            <a:r>
              <a:t>•  Complaints &amp; Feedback: Reviews student suggestions and complaints directly with toggle indicators.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600">
                <a:solidFill>
                  <a:srgbClr val="334155"/>
                </a:solidFill>
                <a:latin typeface="Segoe UI"/>
              </a:defRPr>
            </a:pPr>
            <a:r>
              <a:t>•  Integrity Audits: Mentors review integrity infraction history (copy-paste, tab switches) for assigned students.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600">
                <a:solidFill>
                  <a:srgbClr val="334155"/>
                </a:solidFill>
                <a:latin typeface="Segoe UI"/>
              </a:defRPr>
            </a:pPr>
            <a:r>
              <a:t>•  Personalized Roadmap Reviews: Mentor-guided prep recommendations for students based on AI insights.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60152" cy="137160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2563EB"/>
                </a:solidFill>
                <a:latin typeface="Segoe UI"/>
              </a:defRPr>
            </a:pPr>
            <a:r>
              <a:t>INTERVIEW IQ  |  CONCLUSION &amp; STRATEGIC ROADMAP</a:t>
            </a:r>
          </a:p>
          <a:p>
            <a:pPr>
              <a:defRPr sz="3600" b="1">
                <a:solidFill>
                  <a:srgbClr val="0F172A"/>
                </a:solidFill>
                <a:latin typeface="Segoe UI"/>
              </a:defRPr>
            </a:pPr>
            <a:r>
              <a:t>Conclusion &amp; Strategic Roadmap</a:t>
            </a:r>
          </a:p>
          <a:p>
            <a:pPr>
              <a:defRPr sz="1600">
                <a:solidFill>
                  <a:srgbClr val="64748B"/>
                </a:solidFill>
                <a:latin typeface="Segoe UI"/>
              </a:defRPr>
            </a:pPr>
            <a:r>
              <a:t>Future Extensions and Platform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60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  <a:defRPr sz="1600">
                <a:solidFill>
                  <a:srgbClr val="334155"/>
                </a:solidFill>
                <a:latin typeface="Segoe UI"/>
              </a:defRPr>
            </a:pPr>
            <a:r>
              <a:t>•  Fully operational MySQL database integration replacing all mocked/hardcoded configurations.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600">
                <a:solidFill>
                  <a:srgbClr val="334155"/>
                </a:solidFill>
                <a:latin typeface="Segoe UI"/>
              </a:defRPr>
            </a:pPr>
            <a:r>
              <a:t>•  Completed Sidebar layout with collapse/expand triggers and customized tooltips.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600">
                <a:solidFill>
                  <a:srgbClr val="334155"/>
                </a:solidFill>
                <a:latin typeface="Segoe UI"/>
              </a:defRPr>
            </a:pPr>
            <a:r>
              <a:t>•  LeetCode-style daily streak flames tracker on student dashboard to drive daily practice engagement.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600">
                <a:solidFill>
                  <a:srgbClr val="334155"/>
                </a:solidFill>
                <a:latin typeface="Segoe UI"/>
              </a:defRPr>
            </a:pPr>
            <a:r>
              <a:t>•  Future Scope: Voice Synthesis (TTS) and voice response analysis for video-interview simulations.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600">
                <a:solidFill>
                  <a:srgbClr val="334155"/>
                </a:solidFill>
                <a:latin typeface="Segoe UI"/>
              </a:defRPr>
            </a:pPr>
            <a:r>
              <a:t>•  Future Scope: Real-time code execution compiler and multi-candidate online whiteboard coding rounds.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